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61" r:id="rId4"/>
    <p:sldId id="260" r:id="rId5"/>
    <p:sldId id="266" r:id="rId6"/>
    <p:sldId id="267" r:id="rId7"/>
    <p:sldId id="276" r:id="rId8"/>
    <p:sldId id="268" r:id="rId9"/>
    <p:sldId id="264" r:id="rId10"/>
    <p:sldId id="269" r:id="rId11"/>
    <p:sldId id="271" r:id="rId12"/>
    <p:sldId id="270" r:id="rId13"/>
    <p:sldId id="273" r:id="rId14"/>
    <p:sldId id="274" r:id="rId15"/>
    <p:sldId id="272" r:id="rId16"/>
    <p:sldId id="275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DAB26F-6A25-403D-97F7-4B861BF2892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7D5EB0E-39AD-4BC9-8755-77D3C0DC004B}">
      <dgm:prSet/>
      <dgm:spPr/>
      <dgm:t>
        <a:bodyPr/>
        <a:lstStyle/>
        <a:p>
          <a:r>
            <a:rPr lang="en-CA" dirty="0"/>
            <a:t>Customer Distribution and Deactivation Analyses</a:t>
          </a:r>
          <a:endParaRPr lang="en-US" dirty="0"/>
        </a:p>
      </dgm:t>
    </dgm:pt>
    <dgm:pt modelId="{C7CB6407-E347-4635-82A6-49BE00F70835}" type="parTrans" cxnId="{534C5682-2574-4549-BD67-2D1806FC47E5}">
      <dgm:prSet/>
      <dgm:spPr/>
      <dgm:t>
        <a:bodyPr/>
        <a:lstStyle/>
        <a:p>
          <a:endParaRPr lang="en-US"/>
        </a:p>
      </dgm:t>
    </dgm:pt>
    <dgm:pt modelId="{F8A91DF9-E08B-48BF-BBD7-B58DED8CE6B1}" type="sibTrans" cxnId="{534C5682-2574-4549-BD67-2D1806FC47E5}">
      <dgm:prSet/>
      <dgm:spPr/>
      <dgm:t>
        <a:bodyPr/>
        <a:lstStyle/>
        <a:p>
          <a:endParaRPr lang="en-US"/>
        </a:p>
      </dgm:t>
    </dgm:pt>
    <dgm:pt modelId="{7FB04C2E-F02C-453C-A0F1-A25128FD85C0}">
      <dgm:prSet/>
      <dgm:spPr/>
      <dgm:t>
        <a:bodyPr/>
        <a:lstStyle/>
        <a:p>
          <a:r>
            <a:rPr lang="en-CA" dirty="0"/>
            <a:t>The data is CRM data of a wireless company for 2 years. </a:t>
          </a:r>
        </a:p>
        <a:p>
          <a:r>
            <a:rPr lang="en-CA" dirty="0"/>
            <a:t>The wireless company would like to investigate the customer distribution and business behaviors, and then gain insightful understanding about the customers, to forecast the deactivation trends for the next 6 months.</a:t>
          </a:r>
          <a:endParaRPr lang="en-US" dirty="0"/>
        </a:p>
      </dgm:t>
    </dgm:pt>
    <dgm:pt modelId="{891C4626-B375-4A62-9744-D7F9498E5D88}" type="parTrans" cxnId="{04B4C3C9-CDB8-4347-A97A-FA6AA451E65B}">
      <dgm:prSet/>
      <dgm:spPr/>
      <dgm:t>
        <a:bodyPr/>
        <a:lstStyle/>
        <a:p>
          <a:endParaRPr lang="en-US"/>
        </a:p>
      </dgm:t>
    </dgm:pt>
    <dgm:pt modelId="{7F8973D1-9310-4B73-BE84-20324DD88D0F}" type="sibTrans" cxnId="{04B4C3C9-CDB8-4347-A97A-FA6AA451E65B}">
      <dgm:prSet/>
      <dgm:spPr/>
      <dgm:t>
        <a:bodyPr/>
        <a:lstStyle/>
        <a:p>
          <a:endParaRPr lang="en-US"/>
        </a:p>
      </dgm:t>
    </dgm:pt>
    <dgm:pt modelId="{1758129C-DC85-4449-91ED-A66C8F53C156}" type="pres">
      <dgm:prSet presAssocID="{54DAB26F-6A25-403D-97F7-4B861BF289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396C06A-1D0A-4673-A360-B263015354B4}" type="pres">
      <dgm:prSet presAssocID="{97D5EB0E-39AD-4BC9-8755-77D3C0DC004B}" presName="hierRoot1" presStyleCnt="0"/>
      <dgm:spPr/>
    </dgm:pt>
    <dgm:pt modelId="{7C7F41D2-CEA8-4B02-A0A8-9BCCC13D7E94}" type="pres">
      <dgm:prSet presAssocID="{97D5EB0E-39AD-4BC9-8755-77D3C0DC004B}" presName="composite" presStyleCnt="0"/>
      <dgm:spPr/>
    </dgm:pt>
    <dgm:pt modelId="{CF9797C1-4104-4C0F-9591-52ADBA5324AC}" type="pres">
      <dgm:prSet presAssocID="{97D5EB0E-39AD-4BC9-8755-77D3C0DC004B}" presName="background" presStyleLbl="node0" presStyleIdx="0" presStyleCnt="2"/>
      <dgm:spPr/>
    </dgm:pt>
    <dgm:pt modelId="{29CEABF0-2F6E-4EDA-9217-BCCD774140BE}" type="pres">
      <dgm:prSet presAssocID="{97D5EB0E-39AD-4BC9-8755-77D3C0DC004B}" presName="text" presStyleLbl="fgAcc0" presStyleIdx="0" presStyleCnt="2">
        <dgm:presLayoutVars>
          <dgm:chPref val="3"/>
        </dgm:presLayoutVars>
      </dgm:prSet>
      <dgm:spPr/>
    </dgm:pt>
    <dgm:pt modelId="{61255DD1-B2FD-4D1A-B4C3-AA8A7AD3B991}" type="pres">
      <dgm:prSet presAssocID="{97D5EB0E-39AD-4BC9-8755-77D3C0DC004B}" presName="hierChild2" presStyleCnt="0"/>
      <dgm:spPr/>
    </dgm:pt>
    <dgm:pt modelId="{034C2BA4-0C89-40C4-8FC1-50E8C9C945D6}" type="pres">
      <dgm:prSet presAssocID="{7FB04C2E-F02C-453C-A0F1-A25128FD85C0}" presName="hierRoot1" presStyleCnt="0"/>
      <dgm:spPr/>
    </dgm:pt>
    <dgm:pt modelId="{3829481B-91C4-4C74-835B-B436AAC79D7A}" type="pres">
      <dgm:prSet presAssocID="{7FB04C2E-F02C-453C-A0F1-A25128FD85C0}" presName="composite" presStyleCnt="0"/>
      <dgm:spPr/>
    </dgm:pt>
    <dgm:pt modelId="{53D0B710-6135-4F4D-88DB-24D5D8735CAF}" type="pres">
      <dgm:prSet presAssocID="{7FB04C2E-F02C-453C-A0F1-A25128FD85C0}" presName="background" presStyleLbl="node0" presStyleIdx="1" presStyleCnt="2"/>
      <dgm:spPr/>
    </dgm:pt>
    <dgm:pt modelId="{9A1A8E7D-4B10-4DA2-8FBE-91A2C7E95834}" type="pres">
      <dgm:prSet presAssocID="{7FB04C2E-F02C-453C-A0F1-A25128FD85C0}" presName="text" presStyleLbl="fgAcc0" presStyleIdx="1" presStyleCnt="2">
        <dgm:presLayoutVars>
          <dgm:chPref val="3"/>
        </dgm:presLayoutVars>
      </dgm:prSet>
      <dgm:spPr/>
    </dgm:pt>
    <dgm:pt modelId="{C277DC05-BC6A-4BEA-AD6C-253C56E4E769}" type="pres">
      <dgm:prSet presAssocID="{7FB04C2E-F02C-453C-A0F1-A25128FD85C0}" presName="hierChild2" presStyleCnt="0"/>
      <dgm:spPr/>
    </dgm:pt>
  </dgm:ptLst>
  <dgm:cxnLst>
    <dgm:cxn modelId="{191D2B43-881E-408A-9D65-D80BD62C36A8}" type="presOf" srcId="{97D5EB0E-39AD-4BC9-8755-77D3C0DC004B}" destId="{29CEABF0-2F6E-4EDA-9217-BCCD774140BE}" srcOrd="0" destOrd="0" presId="urn:microsoft.com/office/officeart/2005/8/layout/hierarchy1"/>
    <dgm:cxn modelId="{534C5682-2574-4549-BD67-2D1806FC47E5}" srcId="{54DAB26F-6A25-403D-97F7-4B861BF2892F}" destId="{97D5EB0E-39AD-4BC9-8755-77D3C0DC004B}" srcOrd="0" destOrd="0" parTransId="{C7CB6407-E347-4635-82A6-49BE00F70835}" sibTransId="{F8A91DF9-E08B-48BF-BBD7-B58DED8CE6B1}"/>
    <dgm:cxn modelId="{507FC989-DFC5-47DB-AB9E-7AA5B1C33D53}" type="presOf" srcId="{7FB04C2E-F02C-453C-A0F1-A25128FD85C0}" destId="{9A1A8E7D-4B10-4DA2-8FBE-91A2C7E95834}" srcOrd="0" destOrd="0" presId="urn:microsoft.com/office/officeart/2005/8/layout/hierarchy1"/>
    <dgm:cxn modelId="{E5D51FC2-DFD3-4122-8EB1-8A5216175BF5}" type="presOf" srcId="{54DAB26F-6A25-403D-97F7-4B861BF2892F}" destId="{1758129C-DC85-4449-91ED-A66C8F53C156}" srcOrd="0" destOrd="0" presId="urn:microsoft.com/office/officeart/2005/8/layout/hierarchy1"/>
    <dgm:cxn modelId="{04B4C3C9-CDB8-4347-A97A-FA6AA451E65B}" srcId="{54DAB26F-6A25-403D-97F7-4B861BF2892F}" destId="{7FB04C2E-F02C-453C-A0F1-A25128FD85C0}" srcOrd="1" destOrd="0" parTransId="{891C4626-B375-4A62-9744-D7F9498E5D88}" sibTransId="{7F8973D1-9310-4B73-BE84-20324DD88D0F}"/>
    <dgm:cxn modelId="{A7D8CA28-4F39-41F3-A03D-DB02EEBA87EA}" type="presParOf" srcId="{1758129C-DC85-4449-91ED-A66C8F53C156}" destId="{D396C06A-1D0A-4673-A360-B263015354B4}" srcOrd="0" destOrd="0" presId="urn:microsoft.com/office/officeart/2005/8/layout/hierarchy1"/>
    <dgm:cxn modelId="{17A3B509-07A4-4CFC-95FE-21363753EAA9}" type="presParOf" srcId="{D396C06A-1D0A-4673-A360-B263015354B4}" destId="{7C7F41D2-CEA8-4B02-A0A8-9BCCC13D7E94}" srcOrd="0" destOrd="0" presId="urn:microsoft.com/office/officeart/2005/8/layout/hierarchy1"/>
    <dgm:cxn modelId="{CF5003F9-59A8-47A2-AA8B-3205EDC82947}" type="presParOf" srcId="{7C7F41D2-CEA8-4B02-A0A8-9BCCC13D7E94}" destId="{CF9797C1-4104-4C0F-9591-52ADBA5324AC}" srcOrd="0" destOrd="0" presId="urn:microsoft.com/office/officeart/2005/8/layout/hierarchy1"/>
    <dgm:cxn modelId="{29577427-74EB-4A50-AF63-7C267833ACA2}" type="presParOf" srcId="{7C7F41D2-CEA8-4B02-A0A8-9BCCC13D7E94}" destId="{29CEABF0-2F6E-4EDA-9217-BCCD774140BE}" srcOrd="1" destOrd="0" presId="urn:microsoft.com/office/officeart/2005/8/layout/hierarchy1"/>
    <dgm:cxn modelId="{F5BD1EBE-D1E4-497B-9B42-3430E6AA8ED8}" type="presParOf" srcId="{D396C06A-1D0A-4673-A360-B263015354B4}" destId="{61255DD1-B2FD-4D1A-B4C3-AA8A7AD3B991}" srcOrd="1" destOrd="0" presId="urn:microsoft.com/office/officeart/2005/8/layout/hierarchy1"/>
    <dgm:cxn modelId="{C59B534E-A8FC-4909-B9D3-BE0E07071894}" type="presParOf" srcId="{1758129C-DC85-4449-91ED-A66C8F53C156}" destId="{034C2BA4-0C89-40C4-8FC1-50E8C9C945D6}" srcOrd="1" destOrd="0" presId="urn:microsoft.com/office/officeart/2005/8/layout/hierarchy1"/>
    <dgm:cxn modelId="{F22A6A4D-8A41-4564-ACC0-2148A52C0309}" type="presParOf" srcId="{034C2BA4-0C89-40C4-8FC1-50E8C9C945D6}" destId="{3829481B-91C4-4C74-835B-B436AAC79D7A}" srcOrd="0" destOrd="0" presId="urn:microsoft.com/office/officeart/2005/8/layout/hierarchy1"/>
    <dgm:cxn modelId="{38CC1C08-1E74-4CDE-B2F5-FB8EA425FB6D}" type="presParOf" srcId="{3829481B-91C4-4C74-835B-B436AAC79D7A}" destId="{53D0B710-6135-4F4D-88DB-24D5D8735CAF}" srcOrd="0" destOrd="0" presId="urn:microsoft.com/office/officeart/2005/8/layout/hierarchy1"/>
    <dgm:cxn modelId="{5F71006B-66B4-4599-8701-E4172A670751}" type="presParOf" srcId="{3829481B-91C4-4C74-835B-B436AAC79D7A}" destId="{9A1A8E7D-4B10-4DA2-8FBE-91A2C7E95834}" srcOrd="1" destOrd="0" presId="urn:microsoft.com/office/officeart/2005/8/layout/hierarchy1"/>
    <dgm:cxn modelId="{EDB18899-9499-406F-B9BE-02F96D95D88C}" type="presParOf" srcId="{034C2BA4-0C89-40C4-8FC1-50E8C9C945D6}" destId="{C277DC05-BC6A-4BEA-AD6C-253C56E4E76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A4FE63-7FB9-4CC3-9929-3F82AB4127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55070F1-1CE2-46FE-A677-46B1F90D8DF8}">
      <dgm:prSet/>
      <dgm:spPr/>
      <dgm:t>
        <a:bodyPr/>
        <a:lstStyle/>
        <a:p>
          <a:r>
            <a:rPr lang="en-US" b="1" i="0" dirty="0"/>
            <a:t>Step </a:t>
          </a:r>
          <a:r>
            <a:rPr lang="en-US" b="1" dirty="0"/>
            <a:t>A</a:t>
          </a:r>
          <a:r>
            <a:rPr lang="en-US" b="1" i="0" dirty="0"/>
            <a:t>- Load Data Into SAS </a:t>
          </a:r>
          <a:endParaRPr lang="en-US" dirty="0"/>
        </a:p>
      </dgm:t>
    </dgm:pt>
    <dgm:pt modelId="{FD3033DF-FDB6-4B98-A634-DD2FC868B183}" type="parTrans" cxnId="{19184A19-6307-4A19-9811-BEDB197F0906}">
      <dgm:prSet/>
      <dgm:spPr/>
      <dgm:t>
        <a:bodyPr/>
        <a:lstStyle/>
        <a:p>
          <a:endParaRPr lang="en-US"/>
        </a:p>
      </dgm:t>
    </dgm:pt>
    <dgm:pt modelId="{B0466E18-4B5C-4457-879A-204FC5D98BDF}" type="sibTrans" cxnId="{19184A19-6307-4A19-9811-BEDB197F0906}">
      <dgm:prSet/>
      <dgm:spPr/>
      <dgm:t>
        <a:bodyPr/>
        <a:lstStyle/>
        <a:p>
          <a:endParaRPr lang="en-US"/>
        </a:p>
      </dgm:t>
    </dgm:pt>
    <dgm:pt modelId="{5C08704F-3C28-45CC-ADB1-4249424EDB95}">
      <dgm:prSet/>
      <dgm:spPr/>
      <dgm:t>
        <a:bodyPr/>
        <a:lstStyle/>
        <a:p>
          <a:r>
            <a:rPr lang="en-US" b="1" i="0" dirty="0"/>
            <a:t>Step </a:t>
          </a:r>
          <a:r>
            <a:rPr lang="en-US" b="1" dirty="0"/>
            <a:t>B</a:t>
          </a:r>
          <a:r>
            <a:rPr lang="en-US" b="1" i="0" dirty="0"/>
            <a:t> – Format the Dates</a:t>
          </a:r>
          <a:endParaRPr lang="en-US" dirty="0"/>
        </a:p>
      </dgm:t>
    </dgm:pt>
    <dgm:pt modelId="{7F829FC7-70A0-4FBA-94C6-7D6194E315E6}" type="parTrans" cxnId="{2FC7A986-2548-4D50-9DA8-37F9A76A49D6}">
      <dgm:prSet/>
      <dgm:spPr/>
      <dgm:t>
        <a:bodyPr/>
        <a:lstStyle/>
        <a:p>
          <a:endParaRPr lang="en-US"/>
        </a:p>
      </dgm:t>
    </dgm:pt>
    <dgm:pt modelId="{A688DEEC-8AEA-4E16-9B45-609D4EFCBDCE}" type="sibTrans" cxnId="{2FC7A986-2548-4D50-9DA8-37F9A76A49D6}">
      <dgm:prSet/>
      <dgm:spPr/>
      <dgm:t>
        <a:bodyPr/>
        <a:lstStyle/>
        <a:p>
          <a:endParaRPr lang="en-US"/>
        </a:p>
      </dgm:t>
    </dgm:pt>
    <dgm:pt modelId="{502DD3A5-58DF-4CF5-ABCA-E2AEC50C918D}">
      <dgm:prSet/>
      <dgm:spPr/>
      <dgm:t>
        <a:bodyPr/>
        <a:lstStyle/>
        <a:p>
          <a:r>
            <a:rPr lang="en-US" b="1" i="0" dirty="0"/>
            <a:t>Step </a:t>
          </a:r>
          <a:r>
            <a:rPr lang="en-US" b="1" dirty="0"/>
            <a:t>C</a:t>
          </a:r>
          <a:r>
            <a:rPr lang="en-US" b="1" i="0" dirty="0"/>
            <a:t> – Using correct data types</a:t>
          </a:r>
          <a:endParaRPr lang="en-US" dirty="0"/>
        </a:p>
      </dgm:t>
    </dgm:pt>
    <dgm:pt modelId="{3EB23BAF-8375-4F3D-9510-A178123CABEC}" type="parTrans" cxnId="{A979FECE-081D-48DC-BBEC-AE166199741C}">
      <dgm:prSet/>
      <dgm:spPr/>
      <dgm:t>
        <a:bodyPr/>
        <a:lstStyle/>
        <a:p>
          <a:endParaRPr lang="en-US"/>
        </a:p>
      </dgm:t>
    </dgm:pt>
    <dgm:pt modelId="{844E3D43-F0BD-4738-B35A-FB36B2F64ADF}" type="sibTrans" cxnId="{A979FECE-081D-48DC-BBEC-AE166199741C}">
      <dgm:prSet/>
      <dgm:spPr/>
      <dgm:t>
        <a:bodyPr/>
        <a:lstStyle/>
        <a:p>
          <a:endParaRPr lang="en-US"/>
        </a:p>
      </dgm:t>
    </dgm:pt>
    <dgm:pt modelId="{3CD8D4C4-5CA8-422A-A5C0-D5A5251EF640}" type="pres">
      <dgm:prSet presAssocID="{36A4FE63-7FB9-4CC3-9929-3F82AB4127F7}" presName="outerComposite" presStyleCnt="0">
        <dgm:presLayoutVars>
          <dgm:chMax val="5"/>
          <dgm:dir/>
          <dgm:resizeHandles val="exact"/>
        </dgm:presLayoutVars>
      </dgm:prSet>
      <dgm:spPr/>
    </dgm:pt>
    <dgm:pt modelId="{6C0EEA6F-7053-49B9-9964-E2F3FFB9EDD2}" type="pres">
      <dgm:prSet presAssocID="{36A4FE63-7FB9-4CC3-9929-3F82AB4127F7}" presName="dummyMaxCanvas" presStyleCnt="0">
        <dgm:presLayoutVars/>
      </dgm:prSet>
      <dgm:spPr/>
    </dgm:pt>
    <dgm:pt modelId="{980BA821-0962-43E4-99BA-E0A4E1748EC9}" type="pres">
      <dgm:prSet presAssocID="{36A4FE63-7FB9-4CC3-9929-3F82AB4127F7}" presName="ThreeNodes_1" presStyleLbl="node1" presStyleIdx="0" presStyleCnt="3">
        <dgm:presLayoutVars>
          <dgm:bulletEnabled val="1"/>
        </dgm:presLayoutVars>
      </dgm:prSet>
      <dgm:spPr/>
    </dgm:pt>
    <dgm:pt modelId="{AD10DA51-5193-4AA3-B495-1DEFC26EFBEB}" type="pres">
      <dgm:prSet presAssocID="{36A4FE63-7FB9-4CC3-9929-3F82AB4127F7}" presName="ThreeNodes_2" presStyleLbl="node1" presStyleIdx="1" presStyleCnt="3">
        <dgm:presLayoutVars>
          <dgm:bulletEnabled val="1"/>
        </dgm:presLayoutVars>
      </dgm:prSet>
      <dgm:spPr/>
    </dgm:pt>
    <dgm:pt modelId="{68890439-9446-454B-AFF8-96D66321DA39}" type="pres">
      <dgm:prSet presAssocID="{36A4FE63-7FB9-4CC3-9929-3F82AB4127F7}" presName="ThreeNodes_3" presStyleLbl="node1" presStyleIdx="2" presStyleCnt="3">
        <dgm:presLayoutVars>
          <dgm:bulletEnabled val="1"/>
        </dgm:presLayoutVars>
      </dgm:prSet>
      <dgm:spPr/>
    </dgm:pt>
    <dgm:pt modelId="{E5EFFC89-8264-470B-8CF3-0ED4A761D052}" type="pres">
      <dgm:prSet presAssocID="{36A4FE63-7FB9-4CC3-9929-3F82AB4127F7}" presName="ThreeConn_1-2" presStyleLbl="fgAccFollowNode1" presStyleIdx="0" presStyleCnt="2">
        <dgm:presLayoutVars>
          <dgm:bulletEnabled val="1"/>
        </dgm:presLayoutVars>
      </dgm:prSet>
      <dgm:spPr/>
    </dgm:pt>
    <dgm:pt modelId="{D7AB4C8D-BD7C-4EC3-B7DB-474B72B44C28}" type="pres">
      <dgm:prSet presAssocID="{36A4FE63-7FB9-4CC3-9929-3F82AB4127F7}" presName="ThreeConn_2-3" presStyleLbl="fgAccFollowNode1" presStyleIdx="1" presStyleCnt="2">
        <dgm:presLayoutVars>
          <dgm:bulletEnabled val="1"/>
        </dgm:presLayoutVars>
      </dgm:prSet>
      <dgm:spPr/>
    </dgm:pt>
    <dgm:pt modelId="{440E355C-E698-4D55-BFDE-A99961464FD5}" type="pres">
      <dgm:prSet presAssocID="{36A4FE63-7FB9-4CC3-9929-3F82AB4127F7}" presName="ThreeNodes_1_text" presStyleLbl="node1" presStyleIdx="2" presStyleCnt="3">
        <dgm:presLayoutVars>
          <dgm:bulletEnabled val="1"/>
        </dgm:presLayoutVars>
      </dgm:prSet>
      <dgm:spPr/>
    </dgm:pt>
    <dgm:pt modelId="{13DA6E34-AB23-4173-BF67-D64A391FFE68}" type="pres">
      <dgm:prSet presAssocID="{36A4FE63-7FB9-4CC3-9929-3F82AB4127F7}" presName="ThreeNodes_2_text" presStyleLbl="node1" presStyleIdx="2" presStyleCnt="3">
        <dgm:presLayoutVars>
          <dgm:bulletEnabled val="1"/>
        </dgm:presLayoutVars>
      </dgm:prSet>
      <dgm:spPr/>
    </dgm:pt>
    <dgm:pt modelId="{3DDDA05F-F4EE-48DE-BA21-B4E41E6DE2AC}" type="pres">
      <dgm:prSet presAssocID="{36A4FE63-7FB9-4CC3-9929-3F82AB4127F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9184A19-6307-4A19-9811-BEDB197F0906}" srcId="{36A4FE63-7FB9-4CC3-9929-3F82AB4127F7}" destId="{855070F1-1CE2-46FE-A677-46B1F90D8DF8}" srcOrd="0" destOrd="0" parTransId="{FD3033DF-FDB6-4B98-A634-DD2FC868B183}" sibTransId="{B0466E18-4B5C-4457-879A-204FC5D98BDF}"/>
    <dgm:cxn modelId="{7B33006F-3E88-4E20-99BB-F8486C3A857B}" type="presOf" srcId="{A688DEEC-8AEA-4E16-9B45-609D4EFCBDCE}" destId="{D7AB4C8D-BD7C-4EC3-B7DB-474B72B44C28}" srcOrd="0" destOrd="0" presId="urn:microsoft.com/office/officeart/2005/8/layout/vProcess5"/>
    <dgm:cxn modelId="{3E770C4F-C8A1-4947-A06E-B79B26637641}" type="presOf" srcId="{B0466E18-4B5C-4457-879A-204FC5D98BDF}" destId="{E5EFFC89-8264-470B-8CF3-0ED4A761D052}" srcOrd="0" destOrd="0" presId="urn:microsoft.com/office/officeart/2005/8/layout/vProcess5"/>
    <dgm:cxn modelId="{9B74C974-9B28-40A9-9EDB-DFF406AE89DD}" type="presOf" srcId="{502DD3A5-58DF-4CF5-ABCA-E2AEC50C918D}" destId="{68890439-9446-454B-AFF8-96D66321DA39}" srcOrd="0" destOrd="0" presId="urn:microsoft.com/office/officeart/2005/8/layout/vProcess5"/>
    <dgm:cxn modelId="{2FC7A986-2548-4D50-9DA8-37F9A76A49D6}" srcId="{36A4FE63-7FB9-4CC3-9929-3F82AB4127F7}" destId="{5C08704F-3C28-45CC-ADB1-4249424EDB95}" srcOrd="1" destOrd="0" parTransId="{7F829FC7-70A0-4FBA-94C6-7D6194E315E6}" sibTransId="{A688DEEC-8AEA-4E16-9B45-609D4EFCBDCE}"/>
    <dgm:cxn modelId="{62690E8F-466F-469B-8FEE-AF6E7395E67B}" type="presOf" srcId="{855070F1-1CE2-46FE-A677-46B1F90D8DF8}" destId="{980BA821-0962-43E4-99BA-E0A4E1748EC9}" srcOrd="0" destOrd="0" presId="urn:microsoft.com/office/officeart/2005/8/layout/vProcess5"/>
    <dgm:cxn modelId="{875681A3-676A-4FBE-9478-B2DEBF04D823}" type="presOf" srcId="{5C08704F-3C28-45CC-ADB1-4249424EDB95}" destId="{AD10DA51-5193-4AA3-B495-1DEFC26EFBEB}" srcOrd="0" destOrd="0" presId="urn:microsoft.com/office/officeart/2005/8/layout/vProcess5"/>
    <dgm:cxn modelId="{C08D7EA9-F6B8-4F20-B1C5-1AEDBF51EA93}" type="presOf" srcId="{36A4FE63-7FB9-4CC3-9929-3F82AB4127F7}" destId="{3CD8D4C4-5CA8-422A-A5C0-D5A5251EF640}" srcOrd="0" destOrd="0" presId="urn:microsoft.com/office/officeart/2005/8/layout/vProcess5"/>
    <dgm:cxn modelId="{4C8FDFAC-D233-4959-A7A1-2AAB1220D763}" type="presOf" srcId="{855070F1-1CE2-46FE-A677-46B1F90D8DF8}" destId="{440E355C-E698-4D55-BFDE-A99961464FD5}" srcOrd="1" destOrd="0" presId="urn:microsoft.com/office/officeart/2005/8/layout/vProcess5"/>
    <dgm:cxn modelId="{C66FC9C9-CF49-42D5-8714-3C969D1284F7}" type="presOf" srcId="{502DD3A5-58DF-4CF5-ABCA-E2AEC50C918D}" destId="{3DDDA05F-F4EE-48DE-BA21-B4E41E6DE2AC}" srcOrd="1" destOrd="0" presId="urn:microsoft.com/office/officeart/2005/8/layout/vProcess5"/>
    <dgm:cxn modelId="{A979FECE-081D-48DC-BBEC-AE166199741C}" srcId="{36A4FE63-7FB9-4CC3-9929-3F82AB4127F7}" destId="{502DD3A5-58DF-4CF5-ABCA-E2AEC50C918D}" srcOrd="2" destOrd="0" parTransId="{3EB23BAF-8375-4F3D-9510-A178123CABEC}" sibTransId="{844E3D43-F0BD-4738-B35A-FB36B2F64ADF}"/>
    <dgm:cxn modelId="{1ED0D4D0-E8EA-4B71-A1CC-AF6363992A82}" type="presOf" srcId="{5C08704F-3C28-45CC-ADB1-4249424EDB95}" destId="{13DA6E34-AB23-4173-BF67-D64A391FFE68}" srcOrd="1" destOrd="0" presId="urn:microsoft.com/office/officeart/2005/8/layout/vProcess5"/>
    <dgm:cxn modelId="{1903C202-F408-438F-BE3D-E8DC8CDE1AC0}" type="presParOf" srcId="{3CD8D4C4-5CA8-422A-A5C0-D5A5251EF640}" destId="{6C0EEA6F-7053-49B9-9964-E2F3FFB9EDD2}" srcOrd="0" destOrd="0" presId="urn:microsoft.com/office/officeart/2005/8/layout/vProcess5"/>
    <dgm:cxn modelId="{8954E0CE-CE74-485C-8DF3-84D9767EED28}" type="presParOf" srcId="{3CD8D4C4-5CA8-422A-A5C0-D5A5251EF640}" destId="{980BA821-0962-43E4-99BA-E0A4E1748EC9}" srcOrd="1" destOrd="0" presId="urn:microsoft.com/office/officeart/2005/8/layout/vProcess5"/>
    <dgm:cxn modelId="{1CF6547F-4DBB-4A9F-BF44-840E54ADBFAC}" type="presParOf" srcId="{3CD8D4C4-5CA8-422A-A5C0-D5A5251EF640}" destId="{AD10DA51-5193-4AA3-B495-1DEFC26EFBEB}" srcOrd="2" destOrd="0" presId="urn:microsoft.com/office/officeart/2005/8/layout/vProcess5"/>
    <dgm:cxn modelId="{B07F7E30-CD14-4980-BA7C-8FF6FDE07230}" type="presParOf" srcId="{3CD8D4C4-5CA8-422A-A5C0-D5A5251EF640}" destId="{68890439-9446-454B-AFF8-96D66321DA39}" srcOrd="3" destOrd="0" presId="urn:microsoft.com/office/officeart/2005/8/layout/vProcess5"/>
    <dgm:cxn modelId="{2DD19F06-A227-45B4-9810-BDE542B87DFD}" type="presParOf" srcId="{3CD8D4C4-5CA8-422A-A5C0-D5A5251EF640}" destId="{E5EFFC89-8264-470B-8CF3-0ED4A761D052}" srcOrd="4" destOrd="0" presId="urn:microsoft.com/office/officeart/2005/8/layout/vProcess5"/>
    <dgm:cxn modelId="{CAAED9BD-9FFD-4231-8983-9A8FAB767B18}" type="presParOf" srcId="{3CD8D4C4-5CA8-422A-A5C0-D5A5251EF640}" destId="{D7AB4C8D-BD7C-4EC3-B7DB-474B72B44C28}" srcOrd="5" destOrd="0" presId="urn:microsoft.com/office/officeart/2005/8/layout/vProcess5"/>
    <dgm:cxn modelId="{4A5728F4-40C6-42CF-8180-B48998C7DB3F}" type="presParOf" srcId="{3CD8D4C4-5CA8-422A-A5C0-D5A5251EF640}" destId="{440E355C-E698-4D55-BFDE-A99961464FD5}" srcOrd="6" destOrd="0" presId="urn:microsoft.com/office/officeart/2005/8/layout/vProcess5"/>
    <dgm:cxn modelId="{78AFEF75-4C7B-4EC6-BAE6-E2D9DD3D6219}" type="presParOf" srcId="{3CD8D4C4-5CA8-422A-A5C0-D5A5251EF640}" destId="{13DA6E34-AB23-4173-BF67-D64A391FFE68}" srcOrd="7" destOrd="0" presId="urn:microsoft.com/office/officeart/2005/8/layout/vProcess5"/>
    <dgm:cxn modelId="{2A3499DD-E030-494B-918B-FDC344E9E000}" type="presParOf" srcId="{3CD8D4C4-5CA8-422A-A5C0-D5A5251EF640}" destId="{3DDDA05F-F4EE-48DE-BA21-B4E41E6DE2A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797C1-4104-4C0F-9591-52ADBA5324AC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EABF0-2F6E-4EDA-9217-BCCD774140BE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Customer Distribution and Deactivation Analyses</a:t>
          </a:r>
          <a:endParaRPr lang="en-US" sz="1900" kern="1200" dirty="0"/>
        </a:p>
      </dsp:txBody>
      <dsp:txXfrm>
        <a:off x="585701" y="1066737"/>
        <a:ext cx="4337991" cy="2693452"/>
      </dsp:txXfrm>
    </dsp:sp>
    <dsp:sp modelId="{53D0B710-6135-4F4D-88DB-24D5D8735CAF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A8E7D-4B10-4DA2-8FBE-91A2C7E95834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The data is CRM data of a wireless company for 2 years.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The wireless company would like to investigate the customer distribution and business behaviors, and then gain insightful understanding about the customers, to forecast the deactivation trends for the next 6 months.</a:t>
          </a:r>
          <a:endParaRPr lang="en-US" sz="1900" kern="1200" dirty="0"/>
        </a:p>
      </dsp:txBody>
      <dsp:txXfrm>
        <a:off x="6092527" y="1066737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BA821-0962-43E4-99BA-E0A4E1748EC9}">
      <dsp:nvSpPr>
        <dsp:cNvPr id="0" name=""/>
        <dsp:cNvSpPr/>
      </dsp:nvSpPr>
      <dsp:spPr>
        <a:xfrm>
          <a:off x="0" y="0"/>
          <a:ext cx="4750420" cy="7549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Step </a:t>
          </a:r>
          <a:r>
            <a:rPr lang="en-US" sz="1900" b="1" kern="1200" dirty="0"/>
            <a:t>A</a:t>
          </a:r>
          <a:r>
            <a:rPr lang="en-US" sz="1900" b="1" i="0" kern="1200" dirty="0"/>
            <a:t>- Load Data Into SAS </a:t>
          </a:r>
          <a:endParaRPr lang="en-US" sz="1900" kern="1200" dirty="0"/>
        </a:p>
      </dsp:txBody>
      <dsp:txXfrm>
        <a:off x="22113" y="22113"/>
        <a:ext cx="3935719" cy="710771"/>
      </dsp:txXfrm>
    </dsp:sp>
    <dsp:sp modelId="{AD10DA51-5193-4AA3-B495-1DEFC26EFBEB}">
      <dsp:nvSpPr>
        <dsp:cNvPr id="0" name=""/>
        <dsp:cNvSpPr/>
      </dsp:nvSpPr>
      <dsp:spPr>
        <a:xfrm>
          <a:off x="419154" y="880830"/>
          <a:ext cx="4750420" cy="7549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Step </a:t>
          </a:r>
          <a:r>
            <a:rPr lang="en-US" sz="1900" b="1" kern="1200" dirty="0"/>
            <a:t>B</a:t>
          </a:r>
          <a:r>
            <a:rPr lang="en-US" sz="1900" b="1" i="0" kern="1200" dirty="0"/>
            <a:t> – Format the Dates</a:t>
          </a:r>
          <a:endParaRPr lang="en-US" sz="1900" kern="1200" dirty="0"/>
        </a:p>
      </dsp:txBody>
      <dsp:txXfrm>
        <a:off x="441267" y="902943"/>
        <a:ext cx="3796291" cy="710771"/>
      </dsp:txXfrm>
    </dsp:sp>
    <dsp:sp modelId="{68890439-9446-454B-AFF8-96D66321DA39}">
      <dsp:nvSpPr>
        <dsp:cNvPr id="0" name=""/>
        <dsp:cNvSpPr/>
      </dsp:nvSpPr>
      <dsp:spPr>
        <a:xfrm>
          <a:off x="838309" y="1761660"/>
          <a:ext cx="4750420" cy="7549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Step </a:t>
          </a:r>
          <a:r>
            <a:rPr lang="en-US" sz="1900" b="1" kern="1200" dirty="0"/>
            <a:t>C</a:t>
          </a:r>
          <a:r>
            <a:rPr lang="en-US" sz="1900" b="1" i="0" kern="1200" dirty="0"/>
            <a:t> – Using correct data types</a:t>
          </a:r>
          <a:endParaRPr lang="en-US" sz="1900" kern="1200" dirty="0"/>
        </a:p>
      </dsp:txBody>
      <dsp:txXfrm>
        <a:off x="860422" y="1783773"/>
        <a:ext cx="3796291" cy="710771"/>
      </dsp:txXfrm>
    </dsp:sp>
    <dsp:sp modelId="{E5EFFC89-8264-470B-8CF3-0ED4A761D052}">
      <dsp:nvSpPr>
        <dsp:cNvPr id="0" name=""/>
        <dsp:cNvSpPr/>
      </dsp:nvSpPr>
      <dsp:spPr>
        <a:xfrm>
          <a:off x="4259672" y="572539"/>
          <a:ext cx="490748" cy="49074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370090" y="572539"/>
        <a:ext cx="269912" cy="369288"/>
      </dsp:txXfrm>
    </dsp:sp>
    <dsp:sp modelId="{D7AB4C8D-BD7C-4EC3-B7DB-474B72B44C28}">
      <dsp:nvSpPr>
        <dsp:cNvPr id="0" name=""/>
        <dsp:cNvSpPr/>
      </dsp:nvSpPr>
      <dsp:spPr>
        <a:xfrm>
          <a:off x="4678826" y="1448336"/>
          <a:ext cx="490748" cy="49074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789244" y="1448336"/>
        <a:ext cx="269912" cy="369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473CA-2FAD-4ABF-8715-D02E818E38ED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2B4BF-EE6B-4A11-90E7-4DF673DD8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16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2B4BF-EE6B-4A11-90E7-4DF673DD815B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119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21DD-4BD1-DB48-374B-92AF740EA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C57-962A-9F73-13D2-DB6AA38DF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467BD-27C9-3107-EEB0-31A5380F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A2D7B-4014-8BE1-BFFC-B703972C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1843B-7345-A58A-CF4C-322F3037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494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B96A-D8E8-9027-78A2-AD6FBB93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19C6-CE49-DE63-4C39-6D64DB25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75F0-AA54-30CD-AE30-6A26416B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4BD89-50FD-0AF2-BAB5-2F77199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B521A-CA7B-77D3-DDCE-EE57AA26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071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E988-9735-233C-CE9B-3014D11E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6214-5D3F-C125-D411-ADAD4191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142A-A933-FC79-28CB-11DF573C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A39FD-E457-3DC9-1F29-493F57D9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1FF1-8155-05A6-1D43-E979E835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203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0857-BCE3-C50D-BCDF-020D089E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F5EB-D42B-4DC1-E9B2-8D2143827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39DA9-38B4-107B-2A6E-6640C0778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33F08-1C17-B45C-5C02-0C4D1243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EEB8-E931-64AF-7BBC-96102169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AD0BB-56B1-FBD2-9253-ACD026BB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90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C345-F56F-811C-B44A-78C5EF07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8CFC1-F0AD-035E-986F-CF2CD9EEF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E6ADE-13C8-1EF4-D2F2-F69977CF3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6062B-577C-8A6F-02C4-4CF9469B9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4CC15-11E9-644E-C05C-625E16565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384D4-F490-3000-58FA-1F59AA1C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5A5D74-5E29-2F5B-0D06-9D89F04FC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9E1E1-63E6-17F0-D375-8F04EDA1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83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D725-2AAF-73D4-7951-A37F2DBE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FF7F6-220F-A62C-6D8D-F2984974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F0C41-0330-E0CA-A8A4-D9CAEA4F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B6710-38FE-75BE-CC2C-FD90DC8B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940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90B0D-4427-D7BE-7380-F6EF29CC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413B6-8BCE-4377-BC66-5A8EB7CC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D7504-7117-51E2-669A-BD9984A8B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818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82A6-95E7-288E-D0E4-0AFF6C63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9568-89F4-5EAF-333A-F4C107A2F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89EB6-0558-2EE8-1996-A784B99C9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580BB-5F8D-60A9-DC03-A440AFBF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AFA77-C4C5-72A1-4B8C-A8604E59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90188-8FB0-9420-B5BB-BE8BC78C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58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8040-C6CF-CD43-7155-B9938151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AB205-37E5-3A88-158E-26EB07F79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DCA85-E9F3-8C35-338A-61C8EED61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65BB8-42CD-C2E8-BABE-AE2D34FE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067E5-107B-4DDF-4104-D957DF59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F3359-AC2B-5E53-BCCC-8D077A59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796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6FBF-0426-72D2-6387-0B5AB8A8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FCC0F-EFD9-5A24-E7AE-AD0A7A33B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9D4F6-6BFB-DC23-3529-AD0DE20B5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9F818-B8DA-0AA8-ED19-66292302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8884-1643-7A10-89A4-84F4F7BE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10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895B5-EB62-B258-743E-8A6A6D61D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47676-B0A8-1AC8-CDF7-A9116F419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570E3-11EB-298D-2BD5-40454F8E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D5275-6E53-AB90-A03F-8AF53BFA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165AA-FC1B-1A97-7BBD-EF0BC25E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05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0A0A4-8998-0A94-6218-EE3555A62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EC11E-6B12-6E69-5CCF-27CE3B689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BA36-3785-0D6C-DEAC-104130C77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26874-EAA2-4A0B-B968-1A392CFF3AD5}" type="datetimeFigureOut">
              <a:rPr lang="en-CA" smtClean="0"/>
              <a:t>2025-03-02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02F9E-27BE-3E38-4BD4-073F8D442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1C978-2873-6601-1C76-98CB5DEB5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3AF83-BD32-4AF7-93D9-331ACB01C6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181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8B49A-545C-947B-3C39-17F55816C6B4}"/>
              </a:ext>
            </a:extLst>
          </p:cNvPr>
          <p:cNvSpPr txBox="1"/>
          <p:nvPr/>
        </p:nvSpPr>
        <p:spPr>
          <a:xfrm>
            <a:off x="31538" y="5103674"/>
            <a:ext cx="2756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/>
              <a:t>Project By :</a:t>
            </a:r>
          </a:p>
          <a:p>
            <a:r>
              <a:rPr lang="en-CA" sz="3600" dirty="0"/>
              <a:t>Rashpinder </a:t>
            </a:r>
          </a:p>
          <a:p>
            <a:r>
              <a:rPr lang="en-CA" sz="3600" dirty="0"/>
              <a:t>Kaur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C40C6-B673-2548-F34E-E2E469C81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969" y="-10"/>
            <a:ext cx="9372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5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2D80F-FA88-3C23-1D70-3548BCD9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CA" b="1" dirty="0"/>
              <a:t>Objective</a:t>
            </a:r>
            <a:endParaRPr lang="en-IN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59921F70-3A98-8D95-2631-FA61329E83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302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488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EFE0A-46A5-F665-A334-FB69154EA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89CC6-7EEA-68DE-D5FE-ED22B3C4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STEPS TAKEN TO </a:t>
            </a:r>
            <a:r>
              <a:rPr lang="en-US" sz="4000" dirty="0">
                <a:solidFill>
                  <a:srgbClr val="FFFFFF"/>
                </a:solidFill>
              </a:rPr>
              <a:t>LOAD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</a:t>
            </a:r>
          </a:p>
        </p:txBody>
      </p:sp>
      <p:graphicFrame>
        <p:nvGraphicFramePr>
          <p:cNvPr id="37" name="TextBox 3">
            <a:extLst>
              <a:ext uri="{FF2B5EF4-FFF2-40B4-BE49-F238E27FC236}">
                <a16:creationId xmlns:a16="http://schemas.microsoft.com/office/drawing/2014/main" id="{D7A4647D-825D-8C81-F0DF-21CF22EBD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788569"/>
              </p:ext>
            </p:extLst>
          </p:nvPr>
        </p:nvGraphicFramePr>
        <p:xfrm>
          <a:off x="11971" y="2170031"/>
          <a:ext cx="5588730" cy="2516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279C3DD-A988-44FC-07B3-9EC6050C3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313" y="2222103"/>
            <a:ext cx="6157913" cy="458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6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CA1B5-0A91-F3A6-6C59-D0590D6D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20D63-6EBB-32F7-0433-57A78F58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dirty="0">
                <a:solidFill>
                  <a:srgbClr val="FFFFFF"/>
                </a:solidFill>
              </a:rPr>
              <a:t>PRINTING DATASET 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321A31-AB43-63CE-EBD9-3E863A947B10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900" b="0" i="0" kern="1200" dirty="0"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EC3F1-8E9F-548D-539B-47BC12E22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655276"/>
            <a:ext cx="9111171" cy="51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08882-B534-D497-049B-9F948515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E58B4-3D95-3AFE-F8D8-0B4D335B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10512572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spcAft>
                <a:spcPts val="0"/>
              </a:spcAft>
              <a:buClr>
                <a:srgbClr val="193E43"/>
              </a:buClr>
              <a:buSzPts val="1800"/>
            </a:pPr>
            <a:r>
              <a:rPr lang="en-US" sz="3700" b="1" i="0" u="none" dirty="0">
                <a:solidFill>
                  <a:srgbClr val="FFFFFF"/>
                </a:solidFill>
                <a:sym typeface="Poppins"/>
              </a:rPr>
              <a:t>CHECKING ACTIVATION 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28805-F23F-D865-570C-F43F730D5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986" y="1686118"/>
            <a:ext cx="7110027" cy="1631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4ADE0-D956-91D8-5FD2-EA4A542F6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810" y="3583812"/>
            <a:ext cx="10040476" cy="243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847E2-7AD6-26CE-4546-C7A85DEC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41CE3EF-6022-254F-8B6A-70AC791F5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CD2712-AF20-5FC2-6BE6-8B0646A4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026EB1-781E-4C8C-E326-A4DE79FFD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95E682-84D7-E9C5-38DB-EC9ADF34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6BE8B-3FDB-C51D-3E87-0CFC5534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84" y="272370"/>
            <a:ext cx="12080114" cy="10012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Poppins"/>
                <a:ea typeface="+mj-ea"/>
                <a:cs typeface="Poppins"/>
                <a:sym typeface="Poppins"/>
              </a:rPr>
              <a:t>ASSOCIATION BETWEEN AGE &amp; STATUS 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89C21-10EF-7D6E-EAE7-4C743C69B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" y="1988661"/>
            <a:ext cx="6434226" cy="2202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AE18A3-E8D8-7807-7F8F-074118F58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4" y="4604153"/>
            <a:ext cx="5772956" cy="1981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3D41E4-C4CB-881B-6A2B-79BAAA786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760" y="1614561"/>
            <a:ext cx="5487238" cy="518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0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7D0B3-819D-D4EC-621D-ACA37F97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E5EE2AB-64D0-F44F-437B-DA6EB6CC6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C4093BA-148A-EE38-BD8D-60AD2935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8B4F82-CC6B-CD50-A91A-2CBC91E1D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7D6624-0104-997D-0422-E5FE8C88A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A577E-DF21-4937-8DD5-549EE714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84" y="272370"/>
            <a:ext cx="12080114" cy="10012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Poppins"/>
                <a:ea typeface="+mj-ea"/>
                <a:cs typeface="Poppins"/>
                <a:sym typeface="Poppins"/>
              </a:rPr>
              <a:t>ASSOCIATION BETWEEN AGE &amp; STATUS 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A8514-5B20-FB91-92C5-B34E63484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46" y="1943550"/>
            <a:ext cx="6077798" cy="45440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5DE5CC-9AB8-7BD1-E83B-2EAE502D3C96}"/>
              </a:ext>
            </a:extLst>
          </p:cNvPr>
          <p:cNvSpPr txBox="1"/>
          <p:nvPr/>
        </p:nvSpPr>
        <p:spPr>
          <a:xfrm>
            <a:off x="7177089" y="2157413"/>
            <a:ext cx="42291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no significant difference in the age distribution between active and deactivated customers.</a:t>
            </a:r>
          </a:p>
          <a:p>
            <a:r>
              <a:rPr lang="en-US" dirty="0"/>
              <a:t>The variances of age are similar for both groups.</a:t>
            </a:r>
          </a:p>
          <a:p>
            <a:r>
              <a:rPr lang="en-US" dirty="0"/>
              <a:t>Age does not seem to be a strong factor in account deactivation.</a:t>
            </a:r>
          </a:p>
          <a:p>
            <a:endParaRPr lang="en-US" dirty="0"/>
          </a:p>
          <a:p>
            <a:r>
              <a:rPr lang="en-US" dirty="0"/>
              <a:t>Since p &gt; 0.05, the difference in age is not statistically significant.</a:t>
            </a:r>
          </a:p>
          <a:p>
            <a:r>
              <a:rPr lang="en-US" dirty="0"/>
              <a:t>Age does not appear to be significantly different between active and deactivated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44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94C74-F2CB-102C-7992-A62D53C5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BFFB9E6-C225-88F7-793B-B6419451C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8DB1C8-CD3E-2879-7EF8-96A20B16B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3F8557-E11B-351A-6962-2FF022E85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C4DF57-4B49-D135-96C4-051686240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C4768-1E44-4DF3-6175-6C84721E9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06006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kern="1200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ASSOCIATION BETWEE</a:t>
            </a:r>
            <a:r>
              <a:rPr lang="en-US" sz="40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N PROVINCE &amp; STATUS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EBF469-2420-863B-8757-82090121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12" y="1822348"/>
            <a:ext cx="7525800" cy="905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D32EAD-6BA8-9C83-04DC-1DDE26DDC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92" y="2973741"/>
            <a:ext cx="4563112" cy="3467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A1EE34-A2C6-B677-1153-26D5C6B6D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904" y="3429000"/>
            <a:ext cx="3581900" cy="2943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394E05-EEBA-F8EB-2872-661E2C255D68}"/>
              </a:ext>
            </a:extLst>
          </p:cNvPr>
          <p:cNvSpPr txBox="1"/>
          <p:nvPr/>
        </p:nvSpPr>
        <p:spPr>
          <a:xfrm>
            <a:off x="8562103" y="2278154"/>
            <a:ext cx="27407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p &gt; 0.05 in all tests,</a:t>
            </a:r>
          </a:p>
          <a:p>
            <a:r>
              <a:rPr lang="en-US" dirty="0"/>
              <a:t>Province and Account Status are NOT significantly associated.</a:t>
            </a:r>
          </a:p>
          <a:p>
            <a:endParaRPr lang="en-US" dirty="0"/>
          </a:p>
          <a:p>
            <a:r>
              <a:rPr lang="en-US" dirty="0"/>
              <a:t>This means the province a customer is from does not impact whether their account is </a:t>
            </a:r>
          </a:p>
          <a:p>
            <a:r>
              <a:rPr lang="en-US" dirty="0"/>
              <a:t>active or deactivated.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30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360C3-C77E-CE37-96B4-A3F7BD13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76CCDA9-2A8C-DA09-3443-2BC987F5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91CB4C-EC1F-6E80-8C50-59448C249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0856A3-0D5C-3B69-EEFD-C2CE7D2A9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A68713-E027-DF16-50F5-664CAF4DC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A9197-2C9A-5A29-742E-3AF0E910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ASSOCIATION BETWEEN PROVINCE &amp; STATUS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85DF3-0A3E-F92B-720F-E7347B1881EC}"/>
              </a:ext>
            </a:extLst>
          </p:cNvPr>
          <p:cNvSpPr txBox="1"/>
          <p:nvPr/>
        </p:nvSpPr>
        <p:spPr>
          <a:xfrm>
            <a:off x="8321026" y="2792111"/>
            <a:ext cx="3323711" cy="142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ea typeface="Montserrat"/>
                <a:cs typeface="Montserrat"/>
                <a:sym typeface="Montserrat"/>
              </a:rPr>
              <a:t>According to the given data, ONTARIO have maximum Active accounts.</a:t>
            </a:r>
            <a:endParaRPr lang="en-US" sz="1800" b="0" i="0" u="none" strike="noStrike" cap="none" dirty="0">
              <a:solidFill>
                <a:schemeClr val="dk1"/>
              </a:solidFill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422B8-D67D-DD38-71C5-A3322FB8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25" y="1655276"/>
            <a:ext cx="6782225" cy="51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4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CBC83-A97E-6D70-EEC3-5F72CDE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25BC619-49EB-7D87-BE00-E7D3F263E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A23DEC-D3DB-E395-7AC0-15F4F3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EA7ECB-E839-E05A-0FBD-DB0F086A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BB918F-5503-AEA1-576C-1EAE36AB4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2A803-6186-73FB-106E-5AC24F75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bg1"/>
                </a:solidFill>
                <a:ea typeface="+mj-ea"/>
                <a:cs typeface="+mj-cs"/>
              </a:rPr>
              <a:t>Segmentations</a:t>
            </a:r>
            <a:endParaRPr lang="en-US" sz="3600" kern="120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9ACB4-A0B5-2713-CDE7-634CED5F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793514"/>
            <a:ext cx="6502441" cy="1896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4030E8-2285-6028-EF32-6E121FEEE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84" y="1793515"/>
            <a:ext cx="5680515" cy="18965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E3CBF-F450-2E0B-A31B-0FEEADB5B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6" y="4205632"/>
            <a:ext cx="11702036" cy="248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1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2023C-6AE9-F5D3-FA7B-119ED162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C4B036E-EE99-CD88-620D-5607C6D21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87183B-7BFB-F19A-E1A2-F4A49C1DF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22D6CD-3375-C4B4-F00D-4B4BD505D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6B598E-0174-AB1F-BC1E-3FACFE23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37C86-A373-17B6-06CB-013B2B8E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Q: Calculate the tenure in days for each account and give its simple statistics.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332C1-2820-CB3D-5343-C71A9A093686}"/>
              </a:ext>
            </a:extLst>
          </p:cNvPr>
          <p:cNvSpPr txBox="1"/>
          <p:nvPr/>
        </p:nvSpPr>
        <p:spPr>
          <a:xfrm>
            <a:off x="8451669" y="2500313"/>
            <a:ext cx="3326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u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Date used here is </a:t>
            </a:r>
          </a:p>
          <a:p>
            <a:r>
              <a:rPr lang="en-US" sz="2000" b="0" i="0" u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20 January 2001 because the earliest activation is </a:t>
            </a:r>
          </a:p>
          <a:p>
            <a:r>
              <a:rPr lang="en-US" sz="2000" b="0" i="0" u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January 20, 1999 and the analysis dataset is for two years so the maximum limit of the date will range up to two </a:t>
            </a:r>
          </a:p>
          <a:p>
            <a:r>
              <a:rPr lang="en-US" sz="2000" b="0" i="0" u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years from the earliest activated date.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45F87-0CAE-561B-C2C9-EC8181C44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1742661"/>
            <a:ext cx="6485411" cy="2992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90097B-A155-0198-82A2-584A0977A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302" y="4901906"/>
            <a:ext cx="5792538" cy="170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7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464A8-4E34-5A97-ADDF-5DC1D61D8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66FCCBF-4BAC-8DF5-7F6E-4BDE3B2A4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AB0F86-36E5-C176-09C0-15BCCF9A9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90493E-23C7-6F11-FD7F-BABFB4FE3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BDD851-6B26-6A22-17F2-C8FB699F1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BA2D5-C41F-D408-4ABD-14DA6147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</a:t>
            </a:r>
            <a:r>
              <a:rPr lang="en-US" sz="3700" b="1" dirty="0">
                <a:solidFill>
                  <a:schemeClr val="bg1"/>
                </a:solidFill>
              </a:rPr>
              <a:t> </a:t>
            </a:r>
            <a:r>
              <a:rPr lang="en-US" sz="3100" b="1" i="0" u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Calculate the number of accounts deactivated for each month.</a:t>
            </a:r>
            <a:endParaRPr lang="en-US" sz="3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85719-0B9F-E81A-E421-E52D07555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798276"/>
            <a:ext cx="7768141" cy="2199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75E5F8-0024-836F-1EF7-2A1230EC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155" y="1741934"/>
            <a:ext cx="3372753" cy="494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4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2BBAE-6786-C27D-8A87-BC9FD1B39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81F11D0-0A33-70C2-6DF5-C0DBCA6A2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EA38B8-F024-F8B2-4D9A-77F7C41BD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787C35-D65D-EBAE-E5B5-620D11FD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789985-0E16-8F09-3008-1A6378D2A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9D59F-D3CA-9958-6D4E-2103FB09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kern="1200" dirty="0">
                <a:solidFill>
                  <a:schemeClr val="bg1"/>
                </a:solidFill>
                <a:ea typeface="+mj-ea"/>
                <a:cs typeface="+mj-cs"/>
              </a:rPr>
              <a:t>Q: Segment the account, first by account status “Active” and “Deactivated”, then by Tenure, Report the number of accounts of percent of all for each segment.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FB420-F10D-F82A-3200-98419D09C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276"/>
            <a:ext cx="7140349" cy="2486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0B2F3-8691-E1A7-F6D2-08D4400FB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38" y="2751130"/>
            <a:ext cx="5491161" cy="410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C06D5-DE25-0601-3FBA-31022AEC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4527AD5-E9CC-63BB-8D83-26D3E6872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A94E87-B059-7B79-63B9-C04840E3F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BE6028B-0730-D8E6-A76A-EBAF5A2E7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5F4AC4-2F67-8C22-96F0-9EB86A29D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6005A-DD92-C15B-63B3-F909035F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7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Q: Test the general association between the tenure segments and “Good Credit” , “Rate Plan ” and “Dealer Type.”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0B3D4-552F-7C05-B577-7D37DF2F1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02" y="1822348"/>
            <a:ext cx="3772426" cy="2591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9B96C7-44A6-80B4-7439-4A2EB6A5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937" y="1884269"/>
            <a:ext cx="3667637" cy="2467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BE6957-537F-31AB-0D88-9E747B3C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42" y="1922373"/>
            <a:ext cx="3505689" cy="239110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5E15D879-EC93-A15A-4315-386561F69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8" y="4855636"/>
            <a:ext cx="109063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 the Null Hypothesis (H₀)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There is a significant association between the categorical variables in all of the above cases, p-values less than 0.005, so we reject null hypothesis and accept that there is significant association between: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Tenure_Group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dirty="0" err="1">
                <a:latin typeface="Arial" panose="020B0604020202020204" pitchFamily="34" charset="0"/>
              </a:rPr>
              <a:t>GoodCredit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Tenure_Group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RatePlan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Tenure_Group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dirty="0" err="1">
                <a:latin typeface="Arial" panose="020B0604020202020204" pitchFamily="34" charset="0"/>
              </a:rPr>
              <a:t>DealerType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12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5A257-8877-22EF-D29B-55472582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BFA25E-9169-20EE-3262-ECDC4F395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483D9D-4FBF-245E-F2A2-7C3293C6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199214-BCA2-1320-5582-B96D79E0A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3E8A51-299F-8331-8EF2-B74D1190D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6C900-3DF1-78DE-99A9-4F57213C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248038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Q: ASSOCIATION BETWEEN STATUS AND TENURE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ED213-85BB-43D8-5615-4EB67469A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16" y="1822348"/>
            <a:ext cx="5963482" cy="847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ECAE0C-429A-3F74-D240-A0F8BA42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643" y="1574310"/>
            <a:ext cx="4401528" cy="52836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909F23-6782-52B0-B5C0-857F708AC5D9}"/>
              </a:ext>
            </a:extLst>
          </p:cNvPr>
          <p:cNvSpPr txBox="1"/>
          <p:nvPr/>
        </p:nvSpPr>
        <p:spPr>
          <a:xfrm>
            <a:off x="217714" y="2976317"/>
            <a:ext cx="67651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Chi-Square Value (χ²) = 4460.6365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a very high chi-square value, suggesting a strong association between account status and tenure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p-value &lt; 0.0001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p &lt; 0.05, the null hypothesis (H₀) is rejected.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status is significantly associated with tenure 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</a:t>
            </a:r>
            <a:r>
              <a:rPr lang="en-US" b="1" dirty="0"/>
              <a:t>significant</a:t>
            </a:r>
            <a:r>
              <a:rPr lang="en-US" dirty="0"/>
              <a:t> and </a:t>
            </a:r>
            <a:r>
              <a:rPr lang="en-US" b="1" dirty="0"/>
              <a:t>moderate</a:t>
            </a:r>
            <a:r>
              <a:rPr lang="en-US" dirty="0"/>
              <a:t> relationship between tenure and account status.</a:t>
            </a:r>
          </a:p>
        </p:txBody>
      </p:sp>
    </p:spTree>
    <p:extLst>
      <p:ext uri="{BB962C8B-B14F-4D97-AF65-F5344CB8AC3E}">
        <p14:creationId xmlns:p14="http://schemas.microsoft.com/office/powerpoint/2010/main" val="176257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56908-0CD9-53F7-8168-0BEBA01E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D9B908-B843-62B6-37B3-393B0DE8F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3174C8-E2EE-2578-FB37-0B4AA8E2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CD95F1-7C83-7194-1BF6-C1C29030B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DBC953-93C8-56AC-F843-D80C61181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9D5F0-6E59-C168-AF46-B34A0270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69" y="367546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kern="1200" dirty="0">
                <a:solidFill>
                  <a:schemeClr val="bg1"/>
                </a:solidFill>
                <a:ea typeface="+mj-ea"/>
                <a:cs typeface="+mj-cs"/>
              </a:rPr>
              <a:t>Q: Does the Sales amount differ among different account status, </a:t>
            </a:r>
            <a:r>
              <a:rPr lang="en-US" sz="3700" b="1" kern="1200" dirty="0" err="1">
                <a:solidFill>
                  <a:schemeClr val="bg1"/>
                </a:solidFill>
                <a:ea typeface="+mj-ea"/>
                <a:cs typeface="+mj-cs"/>
              </a:rPr>
              <a:t>GoodCredit</a:t>
            </a:r>
            <a:r>
              <a:rPr lang="en-US" sz="3700" b="1" kern="1200" dirty="0">
                <a:solidFill>
                  <a:schemeClr val="bg1"/>
                </a:solidFill>
                <a:ea typeface="+mj-ea"/>
                <a:cs typeface="+mj-cs"/>
              </a:rPr>
              <a:t>, and customer age segments?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955F6-61BC-47F5-6648-8ED98E2AA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4" y="1766812"/>
            <a:ext cx="7716327" cy="10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8E6745-F1D2-5537-75D6-34A0960D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139" y="2066256"/>
            <a:ext cx="545858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9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22213-078D-2CB5-ADF4-07C5525E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FDC6C0D-7883-BE75-5307-282BD5923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A0B0E9-BE32-7BAD-411A-D39DF76C0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2449B6-3B00-2C56-D2F2-B892B7DF4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F3C51F-CA0F-0675-CE76-6483A7143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492B8-AE60-68AB-57E2-60C5EF91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69" y="367546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bg1"/>
                </a:solidFill>
              </a:rPr>
              <a:t>C</a:t>
            </a:r>
            <a:r>
              <a:rPr lang="en-US" sz="3700" b="1" dirty="0">
                <a:solidFill>
                  <a:schemeClr val="bg1"/>
                </a:solidFill>
                <a:latin typeface="+mj-lt"/>
              </a:rPr>
              <a:t>ORRELATION 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EF2EB-6075-E91F-D022-9205A6D06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77" y="2041869"/>
            <a:ext cx="4906060" cy="1943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39CFB-B282-5C53-F8FC-44DD3CF1E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084" y="1894292"/>
            <a:ext cx="4077269" cy="38772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50F56A-DC51-E033-99BB-41BC42239C48}"/>
              </a:ext>
            </a:extLst>
          </p:cNvPr>
          <p:cNvSpPr txBox="1"/>
          <p:nvPr/>
        </p:nvSpPr>
        <p:spPr>
          <a:xfrm>
            <a:off x="637377" y="4544457"/>
            <a:ext cx="6098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correlation coefficient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(0.00867)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close to zero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p-value (0.0080)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below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the result is statistically significant, reject null hypothesis, there is relationship between Sales and Tenure.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73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1E787-9EE1-8DC7-5EA8-614E61419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B76E57-45A4-89D2-2FB5-931631D6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616B58-C317-7C10-5FCA-657537988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B98024-4D92-EB9A-B742-0FCACBD5D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4DDD5C-EFA9-C78E-7D7F-BD94C3784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CB620-EAE4-27D1-0167-16162CB97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69" y="367546"/>
            <a:ext cx="1176745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bg1"/>
                </a:solidFill>
              </a:rPr>
              <a:t>Conclusion</a:t>
            </a:r>
            <a:r>
              <a:rPr lang="en-US" sz="3700" b="1" dirty="0">
                <a:solidFill>
                  <a:schemeClr val="bg1"/>
                </a:solidFill>
                <a:latin typeface="+mj-lt"/>
              </a:rPr>
              <a:t> 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76C74-931E-8B8D-52E3-BF6F2C669745}"/>
              </a:ext>
            </a:extLst>
          </p:cNvPr>
          <p:cNvSpPr txBox="1"/>
          <p:nvPr/>
        </p:nvSpPr>
        <p:spPr>
          <a:xfrm>
            <a:off x="1069519" y="2731597"/>
            <a:ext cx="79165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Key Factors Affecting Activation &amp; Deactivation</a:t>
            </a:r>
          </a:p>
          <a:p>
            <a:endParaRPr lang="en-US" dirty="0"/>
          </a:p>
          <a:p>
            <a:r>
              <a:rPr lang="en-US" dirty="0"/>
              <a:t>• Age &amp; Province: There is no significant difference in activation/deactivation trends based on age or province. This suggests that external demographic factors do not play a major role in customer retention.</a:t>
            </a:r>
          </a:p>
          <a:p>
            <a:endParaRPr lang="en-US" dirty="0"/>
          </a:p>
          <a:p>
            <a:r>
              <a:rPr lang="en-US" dirty="0"/>
              <a:t>• Tenure: There is a strong association between tenure and account status. Customers with longer tenure are more likely to stay active, while newer accounts have a higher risk of deactivation.</a:t>
            </a:r>
          </a:p>
        </p:txBody>
      </p:sp>
    </p:spTree>
    <p:extLst>
      <p:ext uri="{BB962C8B-B14F-4D97-AF65-F5344CB8AC3E}">
        <p14:creationId xmlns:p14="http://schemas.microsoft.com/office/powerpoint/2010/main" val="80068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627</Words>
  <Application>Microsoft Office PowerPoint</Application>
  <PresentationFormat>Widescreen</PresentationFormat>
  <Paragraphs>62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Aptos Display</vt:lpstr>
      <vt:lpstr>Arial</vt:lpstr>
      <vt:lpstr>Montserrat</vt:lpstr>
      <vt:lpstr>Poppins</vt:lpstr>
      <vt:lpstr>Office Theme</vt:lpstr>
      <vt:lpstr>PowerPoint Presentation</vt:lpstr>
      <vt:lpstr>Objective</vt:lpstr>
      <vt:lpstr>STEPS TAKEN TO LOAD DATA</vt:lpstr>
      <vt:lpstr>PRINTING DATASET </vt:lpstr>
      <vt:lpstr>CHECKING ACTIVATION STATUS</vt:lpstr>
      <vt:lpstr>ASSOCIATION BETWEEN AGE &amp; STATUS </vt:lpstr>
      <vt:lpstr>ASSOCIATION BETWEEN AGE &amp; STATUS </vt:lpstr>
      <vt:lpstr>ASSOCIATION BETWEEN PROVINCE &amp; STATUS</vt:lpstr>
      <vt:lpstr>ASSOCIATION BETWEEN PROVINCE &amp; STATUS</vt:lpstr>
      <vt:lpstr>Segmentations</vt:lpstr>
      <vt:lpstr>Q: Calculate the tenure in days for each account and give its simple statistics.</vt:lpstr>
      <vt:lpstr>Q Calculate the number of accounts deactivated for each month.</vt:lpstr>
      <vt:lpstr>Q: Segment the account, first by account status “Active” and “Deactivated”, then by Tenure, Report the number of accounts of percent of all for each segment.</vt:lpstr>
      <vt:lpstr>Q: Test the general association between the tenure segments and “Good Credit” , “Rate Plan ” and “Dealer Type.”</vt:lpstr>
      <vt:lpstr>Q: ASSOCIATION BETWEEN STATUS AND TENURE</vt:lpstr>
      <vt:lpstr>Q: Does the Sales amount differ among different account status, GoodCredit, and customer age segments?</vt:lpstr>
      <vt:lpstr>CORRELATION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Jaspreet Kaur</dc:creator>
  <cp:lastModifiedBy>Rashpinder Chahal</cp:lastModifiedBy>
  <cp:revision>9</cp:revision>
  <dcterms:created xsi:type="dcterms:W3CDTF">2025-01-22T01:11:40Z</dcterms:created>
  <dcterms:modified xsi:type="dcterms:W3CDTF">2025-03-03T04:01:04Z</dcterms:modified>
</cp:coreProperties>
</file>